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Outfit"/>
      <p:regular r:id="rId16"/>
    </p:embeddedFont>
    <p:embeddedFont>
      <p:font typeface="Outfit"/>
      <p:regular r:id="rId17"/>
    </p:embeddedFont>
    <p:embeddedFont>
      <p:font typeface="Bitter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Uncovering spending patterns, customer segments, and product preferences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across multiple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82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403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805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56884" y="277403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18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229130" y="3805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72713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$59.76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2565916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Avg. Purchase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72713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3.75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9229130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Avg. Rating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3684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Demographics · Purchase details · Shipping · Discounts · Subscription status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776" y="601147"/>
            <a:ext cx="6476881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Preparation in Python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05776" y="152280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05776" y="1849279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6205776" y="199775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Load &amp; Explore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05776" y="2430542"/>
            <a:ext cx="7705249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Imported with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; used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05776" y="3099554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5776" y="3426023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0" name="Text 7"/>
          <p:cNvSpPr/>
          <p:nvPr/>
        </p:nvSpPr>
        <p:spPr>
          <a:xfrm>
            <a:off x="6205776" y="357449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Clean &amp; Impute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05776" y="4007287"/>
            <a:ext cx="7705249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37 missing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review_rating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values filled with category median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05776" y="467629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5776" y="5002768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6205776" y="515123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205776" y="5584031"/>
            <a:ext cx="7705249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columns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05776" y="6253043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05776" y="6579513"/>
            <a:ext cx="7705249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8" name="Text 15"/>
          <p:cNvSpPr/>
          <p:nvPr/>
        </p:nvSpPr>
        <p:spPr>
          <a:xfrm>
            <a:off x="6205776" y="672798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Load to SQL Server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05776" y="7160776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Cleaned DataFrame exported to SQL Server for structured analysis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2× more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than female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Middle-aged segment leads all age groups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$89,741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Young Adults contribute the least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$29,258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63485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66918"/>
            <a:ext cx="6244709" cy="36173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6250" y="4416504"/>
            <a:ext cx="8066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590" y="4453057"/>
            <a:ext cx="91440" cy="91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07700" y="4439364"/>
            <a:ext cx="5780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630704" y="4439364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667256" y="4439364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236250" y="4642009"/>
            <a:ext cx="106465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590" y="4678561"/>
            <a:ext cx="91440" cy="91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07700" y="4664869"/>
            <a:ext cx="83605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836325" y="4664869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872877" y="4664869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5236250" y="4867513"/>
            <a:ext cx="77485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90" y="4904065"/>
            <a:ext cx="91440" cy="91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07700" y="4890373"/>
            <a:ext cx="54625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5598914" y="4890373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5635466" y="489037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C2C4B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599521" y="2862382"/>
            <a:ext cx="3925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Segments by Purchase History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599521" y="3443526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Loyal (3,116)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majority of the base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Returning (701)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re-engaged buyers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New (83)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acquisition opportunity</a:t>
            </a:r>
            <a:endParaRPr lang="en-US" sz="1750" dirty="0"/>
          </a:p>
        </p:txBody>
      </p:sp>
      <p:sp>
        <p:nvSpPr>
          <p:cNvPr id="21" name="Shape 15"/>
          <p:cNvSpPr/>
          <p:nvPr/>
        </p:nvSpPr>
        <p:spPr>
          <a:xfrm>
            <a:off x="7599521" y="4945975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5282446"/>
            <a:ext cx="283488" cy="22681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36637" y="5229463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958 repeat buyers (&gt;5 purchases) hold active subscriptions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7664"/>
            <a:ext cx="66489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Subscriptions &amp; Discounts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30072"/>
            <a:ext cx="4196358" cy="2531745"/>
          </a:xfrm>
          <a:prstGeom prst="roundRect">
            <a:avLst>
              <a:gd name="adj" fmla="val 1344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6568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14730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27%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subscribed ·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73%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not subscribed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500919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Avg. spend equal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$59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both groups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30072"/>
            <a:ext cx="4196358" cy="2531745"/>
          </a:xfrm>
          <a:prstGeom prst="roundRect">
            <a:avLst>
              <a:gd name="adj" fmla="val 1344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3656886"/>
            <a:ext cx="3312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Discount-Heavy Products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14730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50%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· Coat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49%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· Sneakers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49%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· Sweater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48%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· Pants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47%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430072"/>
            <a:ext cx="4196358" cy="2531745"/>
          </a:xfrm>
          <a:prstGeom prst="roundRect">
            <a:avLst>
              <a:gd name="adj" fmla="val 1344"/>
            </a:avLst>
          </a:prstGeom>
          <a:solidFill>
            <a:srgbClr val="3B3C3E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3656886"/>
            <a:ext cx="3536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High-Spend Discount Users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414730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Many discount users still spend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above average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discounts don't erode value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6919"/>
            <a:ext cx="68412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Products &amp; Categories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2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Top-Rated Products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952155"/>
            <a:ext cx="6244709" cy="3955256"/>
          </a:xfrm>
          <a:prstGeom prst="roundRect">
            <a:avLst>
              <a:gd name="adj" fmla="val 86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343" y="310348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Product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43018" y="310348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Avg Rating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343" y="376142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Gloves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43018" y="376142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3.86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343" y="4419362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Sandals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3018" y="4419362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3.84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343" y="507730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Boots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143018" y="507730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3.82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8343" y="573524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143018" y="573524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3.80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8343" y="6393180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Skirt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43018" y="6393180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3.78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2342674"/>
            <a:ext cx="3154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Best Sellers by Category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99521" y="2952155"/>
            <a:ext cx="6244709" cy="3297317"/>
          </a:xfrm>
          <a:prstGeom prst="roundRect">
            <a:avLst>
              <a:gd name="adj" fmla="val 10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4074" y="310348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Category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948749" y="310348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#1 Product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834074" y="376142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Clothing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0948749" y="376142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Blouse / Pants (171)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834074" y="4419362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Accessories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948749" y="4419362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Jewelry (171)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834074" y="507730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Outerwear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0948749" y="507730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Jacket (163)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834074" y="573524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Footwear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948749" y="573524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Sandals (160)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98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Power BI Dashboard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2788801"/>
            <a:ext cx="453628" cy="4536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7306" y="2866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Interactive Filters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017306" y="33570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Subscription, Gender, Category, Shipping Type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173617"/>
            <a:ext cx="453628" cy="4536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7306" y="4251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&amp; Sales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017306" y="47419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By category and age group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5558433"/>
            <a:ext cx="453628" cy="4536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7306" y="5636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Subscription Split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017306" y="61267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27% Yes · 73% No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7927"/>
            <a:ext cx="7189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033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67033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41804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Promote exclusive benefits to convert the 73% non-subscribers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67033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67033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41804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Reward repeat buyers to grow the Loyal segment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67033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67033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927628"/>
            <a:ext cx="2959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41804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Balance sales boosts with margin control on high-discount items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62795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62795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4885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37567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 on middle-aged, high-revenue segments and express-shipping users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627959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62795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4885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37567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Highlight top-rated and best-selling products in campaigns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2026-04-27T02:34:56Z</dcterms:created>
  <dcterms:modified xsi:type="dcterms:W3CDTF">2026-04-27T02:34:56Z</dcterms:modified>
</cp:coreProperties>
</file>